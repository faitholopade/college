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2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67BA-8B1A-DEA5-E893-1B97404E4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37972-D5A2-5E75-7CE5-8D8CE5156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DF24D-798D-895A-6697-85D2EAAE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BD46B-D1D0-DF5C-2CB4-4E00BAFA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ED66F-84B2-A8E5-C404-A1712611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1089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704E-B2FE-CF96-70DD-58A1DFCE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59E09-B42B-80F1-058C-282DB12C7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E8CB-E99F-10BB-9EEA-6B22153E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6E74C-85AF-5DA8-7FC9-1C61BA06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83A0F-19B3-052D-0D6A-BF033DE4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502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4C8B-861D-8054-5C87-7692CBA1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F241-1DDA-00B7-C8E2-6BEB7DAD3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86E93-EC81-F99D-25B3-F17ECF29B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25FC3-35D2-12EC-DC2B-365CC7B4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67F7-B5AF-8AE9-EC0C-110AE7A7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2658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C142-9899-AEA6-B3CA-98CB7117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634E4-EB98-4192-1081-5D0876913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415EB-CC9C-A9ED-79D2-BCE22BEEC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AC39B-2959-3180-7742-17F03680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4A63-77DB-CF1D-BB94-6389BC3BC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160A-95C0-430F-2807-064F9F6B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522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B4B1-9E08-485F-A5CE-393873A10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35A29-1EF1-F46B-BAFC-C46461529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0CC6D-902D-F286-1DBF-5ACE631D5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B0048-1631-5812-03B0-2ED90ACCD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0CF132-A6A4-9326-343E-3B4C13A3F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E9FE91-8603-B12C-63AA-5521F0E50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46561-766B-471D-877D-7AF377D4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EEBC2-47FD-6994-41EF-9A5007BF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2811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1DCC-D521-5BF8-B563-C3FAEB62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4D9B8-F711-1B08-AEFF-11B6FAF1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E7636C-C454-7677-84BE-3F786E87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C657D-7FA8-EB11-EFCB-6C26EB60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520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4D373-34DB-6578-0F0E-7F8CAB9B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206663-9DE2-8DE0-89D4-EF63C2AA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68C99-BD4D-9607-39B9-0DEBF862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6034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0A8C-7C28-3088-4788-7AFA2A565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025AE-8DEC-BC2D-7673-81650D635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F0A48-2EF5-13C7-B94D-F4F518202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68952-0C0B-D32D-A1AF-A008B34D7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A2AB3-C27C-C1CC-C8F1-20ADA6E8C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65394-73FE-E039-2DBF-2AB01462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865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C1EC-4E9B-0B73-0893-AC17CF335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A2578-2AFC-2067-22B0-4A26FD625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57173-2192-2A90-21E0-A525EAE0C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B23C4-F0AB-DC76-1D92-385DA502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34A76-65D1-3E17-44C9-F4C2E57A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E2832-80E1-9B54-D392-18A3478E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5764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1162E-A88F-C0DE-2A5C-69BEE6C4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0EC59-3F90-708D-6386-38A4EAE1E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0C3A2-05FB-AA02-4839-6D028B73C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D2257-D3BA-05C9-382D-0E63DBD40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3DB0F-70AD-D5EF-E46A-2287F976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2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CDA5B2-30B1-14DF-8FBC-4DC05ED61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B12CD-E12F-6CFA-098A-E0A87A91E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F24F4-4573-7E38-C175-7E5A757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F5968-BBDE-4572-E911-5A9E2927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5A4D9-5764-39B2-6BED-79D5D115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898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0B3346-22D2-FC89-1CC6-BEBE24A6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E4C8D-1991-E44B-816F-1EF6C0982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9D965-82E6-D803-988D-4933CEB89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58FEF-8CAD-44AA-B917-510B444ADCF1}" type="datetimeFigureOut">
              <a:rPr lang="en-IE" smtClean="0"/>
              <a:t>22/10/2025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B2F79-A795-AEC8-71C8-F9131EDBB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7125D-D0B4-08DB-2CC1-6C1967B57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FD4B4-7AFE-4B9E-8C36-2049E4418F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252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8F9BF2-08FF-6ADB-D331-183499521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49346"/>
              </p:ext>
            </p:extLst>
          </p:nvPr>
        </p:nvGraphicFramePr>
        <p:xfrm>
          <a:off x="294253" y="2143350"/>
          <a:ext cx="6505332" cy="2883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074">
                  <a:extLst>
                    <a:ext uri="{9D8B030D-6E8A-4147-A177-3AD203B41FA5}">
                      <a16:colId xmlns:a16="http://schemas.microsoft.com/office/drawing/2014/main" val="1048600012"/>
                    </a:ext>
                  </a:extLst>
                </a:gridCol>
                <a:gridCol w="920282">
                  <a:extLst>
                    <a:ext uri="{9D8B030D-6E8A-4147-A177-3AD203B41FA5}">
                      <a16:colId xmlns:a16="http://schemas.microsoft.com/office/drawing/2014/main" val="774577218"/>
                    </a:ext>
                  </a:extLst>
                </a:gridCol>
                <a:gridCol w="1825857">
                  <a:extLst>
                    <a:ext uri="{9D8B030D-6E8A-4147-A177-3AD203B41FA5}">
                      <a16:colId xmlns:a16="http://schemas.microsoft.com/office/drawing/2014/main" val="2076422516"/>
                    </a:ext>
                  </a:extLst>
                </a:gridCol>
                <a:gridCol w="814105">
                  <a:extLst>
                    <a:ext uri="{9D8B030D-6E8A-4147-A177-3AD203B41FA5}">
                      <a16:colId xmlns:a16="http://schemas.microsoft.com/office/drawing/2014/main" val="3792844229"/>
                    </a:ext>
                  </a:extLst>
                </a:gridCol>
                <a:gridCol w="898973">
                  <a:extLst>
                    <a:ext uri="{9D8B030D-6E8A-4147-A177-3AD203B41FA5}">
                      <a16:colId xmlns:a16="http://schemas.microsoft.com/office/drawing/2014/main" val="261892128"/>
                    </a:ext>
                  </a:extLst>
                </a:gridCol>
                <a:gridCol w="865041">
                  <a:extLst>
                    <a:ext uri="{9D8B030D-6E8A-4147-A177-3AD203B41FA5}">
                      <a16:colId xmlns:a16="http://schemas.microsoft.com/office/drawing/2014/main" val="3701220450"/>
                    </a:ext>
                  </a:extLst>
                </a:gridCol>
              </a:tblGrid>
              <a:tr h="763024"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Feature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Part. 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Rem.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IG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201084"/>
                  </a:ext>
                </a:extLst>
              </a:tr>
              <a:tr h="345993"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App usage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R</a:t>
                      </a:r>
                      <a:r>
                        <a:rPr lang="en-DE" sz="1600" dirty="0" err="1"/>
                        <a:t>arely</a:t>
                      </a:r>
                      <a:endParaRPr lang="en-DE" sz="1600" dirty="0"/>
                    </a:p>
                  </a:txBody>
                  <a:tcPr anchor="ctr">
                    <a:lnL w="12700" cmpd="sng">
                      <a:noFill/>
                    </a:lnL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d1</a:t>
                      </a: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0.7219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1313492"/>
                  </a:ext>
                </a:extLst>
              </a:tr>
              <a:tr h="41120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Weekly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d2, d2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45250"/>
                  </a:ext>
                </a:extLst>
              </a:tr>
              <a:tr h="39865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Daily</a:t>
                      </a:r>
                    </a:p>
                  </a:txBody>
                  <a:tcPr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d5, d5</a:t>
                      </a:r>
                    </a:p>
                  </a:txBody>
                  <a:tcPr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184951"/>
                  </a:ext>
                </a:extLst>
              </a:tr>
              <a:tr h="505789"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Has close friends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yes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1, d2, d2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0.9183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0.5510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0.1709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523639"/>
                  </a:ext>
                </a:extLst>
              </a:tr>
              <a:tr h="398658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5, d5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2177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009F929D-9A83-98E5-03EA-68311543D952}"/>
              </a:ext>
            </a:extLst>
          </p:cNvPr>
          <p:cNvSpPr/>
          <p:nvPr/>
        </p:nvSpPr>
        <p:spPr>
          <a:xfrm>
            <a:off x="8924755" y="2647550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9FBD9-AC3D-925F-B563-5794AA59397B}"/>
              </a:ext>
            </a:extLst>
          </p:cNvPr>
          <p:cNvSpPr txBox="1"/>
          <p:nvPr/>
        </p:nvSpPr>
        <p:spPr>
          <a:xfrm>
            <a:off x="8999350" y="2823102"/>
            <a:ext cx="121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App usage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FDD89-FC27-034A-17C0-329E1D1B7813}"/>
              </a:ext>
            </a:extLst>
          </p:cNvPr>
          <p:cNvSpPr/>
          <p:nvPr/>
        </p:nvSpPr>
        <p:spPr>
          <a:xfrm>
            <a:off x="5958416" y="2923019"/>
            <a:ext cx="793991" cy="1166312"/>
          </a:xfrm>
          <a:prstGeom prst="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A4D496-C089-3371-5DF3-4B222BA2A241}"/>
              </a:ext>
            </a:extLst>
          </p:cNvPr>
          <p:cNvCxnSpPr>
            <a:stCxn id="6" idx="3"/>
          </p:cNvCxnSpPr>
          <p:nvPr/>
        </p:nvCxnSpPr>
        <p:spPr>
          <a:xfrm flipH="1">
            <a:off x="8216411" y="3262481"/>
            <a:ext cx="908534" cy="746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9A566B-9E84-9126-4E1C-C3D19D0AE413}"/>
              </a:ext>
            </a:extLst>
          </p:cNvPr>
          <p:cNvCxnSpPr>
            <a:stCxn id="6" idx="4"/>
          </p:cNvCxnSpPr>
          <p:nvPr/>
        </p:nvCxnSpPr>
        <p:spPr>
          <a:xfrm flipH="1">
            <a:off x="9608245" y="3367986"/>
            <a:ext cx="1" cy="71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E19832-6C2D-20A3-09DD-591B2E3EF28B}"/>
              </a:ext>
            </a:extLst>
          </p:cNvPr>
          <p:cNvCxnSpPr>
            <a:stCxn id="6" idx="5"/>
          </p:cNvCxnSpPr>
          <p:nvPr/>
        </p:nvCxnSpPr>
        <p:spPr>
          <a:xfrm>
            <a:off x="10091547" y="3262481"/>
            <a:ext cx="868064" cy="746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BFC850-8D37-937F-8569-F081144142EE}"/>
              </a:ext>
            </a:extLst>
          </p:cNvPr>
          <p:cNvSpPr txBox="1"/>
          <p:nvPr/>
        </p:nvSpPr>
        <p:spPr>
          <a:xfrm>
            <a:off x="8262478" y="3338399"/>
            <a:ext cx="600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Rarely</a:t>
            </a:r>
            <a:endParaRPr lang="en-I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59CD1E-19B6-38BC-12D1-4779792DA99F}"/>
              </a:ext>
            </a:extLst>
          </p:cNvPr>
          <p:cNvSpPr txBox="1"/>
          <p:nvPr/>
        </p:nvSpPr>
        <p:spPr>
          <a:xfrm>
            <a:off x="9007372" y="3563572"/>
            <a:ext cx="666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Weekly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4E6186-0B0A-C90D-3B7C-1544673D80F5}"/>
              </a:ext>
            </a:extLst>
          </p:cNvPr>
          <p:cNvSpPr txBox="1"/>
          <p:nvPr/>
        </p:nvSpPr>
        <p:spPr>
          <a:xfrm>
            <a:off x="10408084" y="3403628"/>
            <a:ext cx="517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Daily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B14050-83B8-3A57-C00B-BC5C8D47FDD5}"/>
              </a:ext>
            </a:extLst>
          </p:cNvPr>
          <p:cNvSpPr txBox="1"/>
          <p:nvPr/>
        </p:nvSpPr>
        <p:spPr>
          <a:xfrm>
            <a:off x="7805240" y="3963424"/>
            <a:ext cx="547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Low</a:t>
            </a:r>
            <a:endParaRPr lang="en-IE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39A4B-198B-F1EE-2400-9452B4BF3192}"/>
              </a:ext>
            </a:extLst>
          </p:cNvPr>
          <p:cNvSpPr txBox="1"/>
          <p:nvPr/>
        </p:nvSpPr>
        <p:spPr>
          <a:xfrm>
            <a:off x="9318915" y="4035563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High</a:t>
            </a:r>
            <a:endParaRPr lang="en-IE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F34CF1-6ECE-C034-08CA-68585677C115}"/>
              </a:ext>
            </a:extLst>
          </p:cNvPr>
          <p:cNvSpPr txBox="1"/>
          <p:nvPr/>
        </p:nvSpPr>
        <p:spPr>
          <a:xfrm>
            <a:off x="10797562" y="3963424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High</a:t>
            </a:r>
            <a:endParaRPr lang="en-IE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552ACE-A977-E7A3-F65F-D1A25D91E869}"/>
              </a:ext>
            </a:extLst>
          </p:cNvPr>
          <p:cNvSpPr txBox="1"/>
          <p:nvPr/>
        </p:nvSpPr>
        <p:spPr>
          <a:xfrm>
            <a:off x="4487130" y="452595"/>
            <a:ext cx="3217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Bootstrap sample A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6532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1BD9B-8C0F-8AB3-C647-77EF7BE9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B9DC8E-F5F9-91C3-2A37-49A403FE7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313334"/>
              </p:ext>
            </p:extLst>
          </p:nvPr>
        </p:nvGraphicFramePr>
        <p:xfrm>
          <a:off x="294253" y="2143349"/>
          <a:ext cx="6695632" cy="2497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625">
                  <a:extLst>
                    <a:ext uri="{9D8B030D-6E8A-4147-A177-3AD203B41FA5}">
                      <a16:colId xmlns:a16="http://schemas.microsoft.com/office/drawing/2014/main" val="1048600012"/>
                    </a:ext>
                  </a:extLst>
                </a:gridCol>
                <a:gridCol w="950198">
                  <a:extLst>
                    <a:ext uri="{9D8B030D-6E8A-4147-A177-3AD203B41FA5}">
                      <a16:colId xmlns:a16="http://schemas.microsoft.com/office/drawing/2014/main" val="774577218"/>
                    </a:ext>
                  </a:extLst>
                </a:gridCol>
                <a:gridCol w="1752272">
                  <a:extLst>
                    <a:ext uri="{9D8B030D-6E8A-4147-A177-3AD203B41FA5}">
                      <a16:colId xmlns:a16="http://schemas.microsoft.com/office/drawing/2014/main" val="2076422516"/>
                    </a:ext>
                  </a:extLst>
                </a:gridCol>
                <a:gridCol w="930907">
                  <a:extLst>
                    <a:ext uri="{9D8B030D-6E8A-4147-A177-3AD203B41FA5}">
                      <a16:colId xmlns:a16="http://schemas.microsoft.com/office/drawing/2014/main" val="3792844229"/>
                    </a:ext>
                  </a:extLst>
                </a:gridCol>
                <a:gridCol w="832284">
                  <a:extLst>
                    <a:ext uri="{9D8B030D-6E8A-4147-A177-3AD203B41FA5}">
                      <a16:colId xmlns:a16="http://schemas.microsoft.com/office/drawing/2014/main" val="261892128"/>
                    </a:ext>
                  </a:extLst>
                </a:gridCol>
                <a:gridCol w="890346">
                  <a:extLst>
                    <a:ext uri="{9D8B030D-6E8A-4147-A177-3AD203B41FA5}">
                      <a16:colId xmlns:a16="http://schemas.microsoft.com/office/drawing/2014/main" val="3701220450"/>
                    </a:ext>
                  </a:extLst>
                </a:gridCol>
              </a:tblGrid>
              <a:tr h="785861"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Feature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Part. 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Rem.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IG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201084"/>
                  </a:ext>
                </a:extLst>
              </a:tr>
              <a:tr h="356348"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Notifications 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y</a:t>
                      </a:r>
                      <a:r>
                        <a:rPr lang="en-DE" sz="1600" dirty="0"/>
                        <a:t>es</a:t>
                      </a:r>
                    </a:p>
                  </a:txBody>
                  <a:tcPr anchor="ctr">
                    <a:lnL w="12700" cmpd="sng">
                      <a:noFill/>
                    </a:lnL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d2, d2, d4, d5</a:t>
                      </a: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0.7219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1313492"/>
                  </a:ext>
                </a:extLst>
              </a:tr>
              <a:tr h="423515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45250"/>
                  </a:ext>
                </a:extLst>
              </a:tr>
              <a:tr h="520927"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Multiple accounts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yes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4, d5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0.5510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0.1709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523639"/>
                  </a:ext>
                </a:extLst>
              </a:tr>
              <a:tr h="410590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1, d2, d2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0.9183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2177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3051B1E-7B7F-0DCF-1162-93BF3B271890}"/>
              </a:ext>
            </a:extLst>
          </p:cNvPr>
          <p:cNvSpPr/>
          <p:nvPr/>
        </p:nvSpPr>
        <p:spPr>
          <a:xfrm>
            <a:off x="8735158" y="2431073"/>
            <a:ext cx="1556579" cy="9369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6812F-CD5C-F8FB-804F-A18A9847898D}"/>
              </a:ext>
            </a:extLst>
          </p:cNvPr>
          <p:cNvSpPr txBox="1"/>
          <p:nvPr/>
        </p:nvSpPr>
        <p:spPr>
          <a:xfrm>
            <a:off x="8767072" y="2649284"/>
            <a:ext cx="1492749" cy="649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/>
              <a:t>Notifications 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C5486-8DB8-BB67-5DD6-5DDEF101C53F}"/>
              </a:ext>
            </a:extLst>
          </p:cNvPr>
          <p:cNvSpPr/>
          <p:nvPr/>
        </p:nvSpPr>
        <p:spPr>
          <a:xfrm>
            <a:off x="6152313" y="2917714"/>
            <a:ext cx="776026" cy="762913"/>
          </a:xfrm>
          <a:prstGeom prst="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17116D-ECA8-E07F-7AD4-129474EE7CC4}"/>
              </a:ext>
            </a:extLst>
          </p:cNvPr>
          <p:cNvCxnSpPr>
            <a:cxnSpLocks/>
            <a:stCxn id="6" idx="3"/>
          </p:cNvCxnSpPr>
          <p:nvPr/>
        </p:nvCxnSpPr>
        <p:spPr>
          <a:xfrm flipH="1">
            <a:off x="8216411" y="3230778"/>
            <a:ext cx="746703" cy="778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42D585-B94A-36C0-F918-B0A5932CF8EB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10063781" y="3230778"/>
            <a:ext cx="895830" cy="778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1C67747-9FE8-0F85-A4CB-59F7CF1F26B2}"/>
              </a:ext>
            </a:extLst>
          </p:cNvPr>
          <p:cNvSpPr txBox="1"/>
          <p:nvPr/>
        </p:nvSpPr>
        <p:spPr>
          <a:xfrm>
            <a:off x="8262478" y="333839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no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F17B30-529D-685C-06C6-BD57D68D8A91}"/>
              </a:ext>
            </a:extLst>
          </p:cNvPr>
          <p:cNvSpPr txBox="1"/>
          <p:nvPr/>
        </p:nvSpPr>
        <p:spPr>
          <a:xfrm>
            <a:off x="10408084" y="3403628"/>
            <a:ext cx="409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yes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28ADD3-96C4-3A22-89AA-4689B4D9457A}"/>
              </a:ext>
            </a:extLst>
          </p:cNvPr>
          <p:cNvSpPr txBox="1"/>
          <p:nvPr/>
        </p:nvSpPr>
        <p:spPr>
          <a:xfrm>
            <a:off x="7805240" y="3963424"/>
            <a:ext cx="547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Low</a:t>
            </a:r>
            <a:endParaRPr lang="en-IE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3CB1C6-156E-8064-4179-B551F9AFB31A}"/>
              </a:ext>
            </a:extLst>
          </p:cNvPr>
          <p:cNvSpPr txBox="1"/>
          <p:nvPr/>
        </p:nvSpPr>
        <p:spPr>
          <a:xfrm>
            <a:off x="10797562" y="3963424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High</a:t>
            </a:r>
            <a:endParaRPr lang="en-IE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0F7E72-20C4-8993-F9D4-EF7AF85E3651}"/>
              </a:ext>
            </a:extLst>
          </p:cNvPr>
          <p:cNvSpPr txBox="1"/>
          <p:nvPr/>
        </p:nvSpPr>
        <p:spPr>
          <a:xfrm>
            <a:off x="4487130" y="452595"/>
            <a:ext cx="3222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Bootstrap sample B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74150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E628D-B63C-403D-DFC5-85F32C08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1487A9-1DC1-E47C-4B06-3BE630690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064837"/>
              </p:ext>
            </p:extLst>
          </p:nvPr>
        </p:nvGraphicFramePr>
        <p:xfrm>
          <a:off x="294253" y="2143349"/>
          <a:ext cx="6695632" cy="2497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625">
                  <a:extLst>
                    <a:ext uri="{9D8B030D-6E8A-4147-A177-3AD203B41FA5}">
                      <a16:colId xmlns:a16="http://schemas.microsoft.com/office/drawing/2014/main" val="1048600012"/>
                    </a:ext>
                  </a:extLst>
                </a:gridCol>
                <a:gridCol w="950198">
                  <a:extLst>
                    <a:ext uri="{9D8B030D-6E8A-4147-A177-3AD203B41FA5}">
                      <a16:colId xmlns:a16="http://schemas.microsoft.com/office/drawing/2014/main" val="774577218"/>
                    </a:ext>
                  </a:extLst>
                </a:gridCol>
                <a:gridCol w="1752272">
                  <a:extLst>
                    <a:ext uri="{9D8B030D-6E8A-4147-A177-3AD203B41FA5}">
                      <a16:colId xmlns:a16="http://schemas.microsoft.com/office/drawing/2014/main" val="2076422516"/>
                    </a:ext>
                  </a:extLst>
                </a:gridCol>
                <a:gridCol w="930907">
                  <a:extLst>
                    <a:ext uri="{9D8B030D-6E8A-4147-A177-3AD203B41FA5}">
                      <a16:colId xmlns:a16="http://schemas.microsoft.com/office/drawing/2014/main" val="3792844229"/>
                    </a:ext>
                  </a:extLst>
                </a:gridCol>
                <a:gridCol w="832284">
                  <a:extLst>
                    <a:ext uri="{9D8B030D-6E8A-4147-A177-3AD203B41FA5}">
                      <a16:colId xmlns:a16="http://schemas.microsoft.com/office/drawing/2014/main" val="261892128"/>
                    </a:ext>
                  </a:extLst>
                </a:gridCol>
                <a:gridCol w="890346">
                  <a:extLst>
                    <a:ext uri="{9D8B030D-6E8A-4147-A177-3AD203B41FA5}">
                      <a16:colId xmlns:a16="http://schemas.microsoft.com/office/drawing/2014/main" val="3701220450"/>
                    </a:ext>
                  </a:extLst>
                </a:gridCol>
              </a:tblGrid>
              <a:tr h="785861"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Feature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Part. 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Rem.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IG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201084"/>
                  </a:ext>
                </a:extLst>
              </a:tr>
              <a:tr h="356348"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Multiple accounts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y</a:t>
                      </a:r>
                      <a:r>
                        <a:rPr lang="en-DE" sz="1600" dirty="0"/>
                        <a:t>es</a:t>
                      </a:r>
                    </a:p>
                  </a:txBody>
                  <a:tcPr anchor="ctr">
                    <a:lnL w="12700" cmpd="sng">
                      <a:noFill/>
                    </a:lnL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d4, d5</a:t>
                      </a: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0.5510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0.4200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1313492"/>
                  </a:ext>
                </a:extLst>
              </a:tr>
              <a:tr h="423515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d1, d1, d2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0.9183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45250"/>
                  </a:ext>
                </a:extLst>
              </a:tr>
              <a:tr h="520927"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Has close friends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yes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600" dirty="0"/>
                        <a:t>d1, d1, d2, d4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1.0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0.8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0.1709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523639"/>
                  </a:ext>
                </a:extLst>
              </a:tr>
              <a:tr h="410590"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r>
                        <a:rPr lang="en-DE" sz="1600" dirty="0"/>
                        <a:t>5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600" dirty="0"/>
                        <a:t>0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2177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6AB10953-ACA2-4D72-B4DD-7CE3EBCD17B8}"/>
              </a:ext>
            </a:extLst>
          </p:cNvPr>
          <p:cNvSpPr/>
          <p:nvPr/>
        </p:nvSpPr>
        <p:spPr>
          <a:xfrm>
            <a:off x="8735158" y="2431073"/>
            <a:ext cx="1556579" cy="9369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1B82A-47C6-3B8D-8761-E37ECC5ECFEA}"/>
              </a:ext>
            </a:extLst>
          </p:cNvPr>
          <p:cNvSpPr txBox="1"/>
          <p:nvPr/>
        </p:nvSpPr>
        <p:spPr>
          <a:xfrm>
            <a:off x="8767072" y="2649284"/>
            <a:ext cx="149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/>
              <a:t>Multiple accounts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F18A2-C8A4-75E2-0D56-3CDAB5E21375}"/>
              </a:ext>
            </a:extLst>
          </p:cNvPr>
          <p:cNvSpPr/>
          <p:nvPr/>
        </p:nvSpPr>
        <p:spPr>
          <a:xfrm>
            <a:off x="6152313" y="2917714"/>
            <a:ext cx="776026" cy="762913"/>
          </a:xfrm>
          <a:prstGeom prst="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213D4A-0E30-9F43-73E6-0C2F7CF2DC05}"/>
              </a:ext>
            </a:extLst>
          </p:cNvPr>
          <p:cNvCxnSpPr>
            <a:cxnSpLocks/>
            <a:stCxn id="6" idx="3"/>
          </p:cNvCxnSpPr>
          <p:nvPr/>
        </p:nvCxnSpPr>
        <p:spPr>
          <a:xfrm flipH="1">
            <a:off x="8216411" y="3230778"/>
            <a:ext cx="746703" cy="778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376913-6694-A085-4238-F4011C8080D8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10063781" y="3230778"/>
            <a:ext cx="895830" cy="778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CEE97E-F560-629E-0E7E-056D43B163F1}"/>
              </a:ext>
            </a:extLst>
          </p:cNvPr>
          <p:cNvSpPr txBox="1"/>
          <p:nvPr/>
        </p:nvSpPr>
        <p:spPr>
          <a:xfrm>
            <a:off x="8262478" y="333839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no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5E2BE1-1DC2-7A2D-8ACC-9A1CF986D07C}"/>
              </a:ext>
            </a:extLst>
          </p:cNvPr>
          <p:cNvSpPr txBox="1"/>
          <p:nvPr/>
        </p:nvSpPr>
        <p:spPr>
          <a:xfrm>
            <a:off x="10408084" y="3403628"/>
            <a:ext cx="409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yes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0B775-579A-D0CF-0510-3CE2FEDD8D46}"/>
              </a:ext>
            </a:extLst>
          </p:cNvPr>
          <p:cNvSpPr txBox="1"/>
          <p:nvPr/>
        </p:nvSpPr>
        <p:spPr>
          <a:xfrm>
            <a:off x="7805240" y="3963424"/>
            <a:ext cx="547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Low</a:t>
            </a:r>
            <a:endParaRPr lang="en-IE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38DB20-3857-8C11-F484-783893E75CEB}"/>
              </a:ext>
            </a:extLst>
          </p:cNvPr>
          <p:cNvSpPr txBox="1"/>
          <p:nvPr/>
        </p:nvSpPr>
        <p:spPr>
          <a:xfrm>
            <a:off x="10797562" y="3963424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High</a:t>
            </a:r>
            <a:endParaRPr lang="en-IE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BB97FA-AA51-5B5D-89AC-10CE55C7E5AC}"/>
              </a:ext>
            </a:extLst>
          </p:cNvPr>
          <p:cNvSpPr txBox="1"/>
          <p:nvPr/>
        </p:nvSpPr>
        <p:spPr>
          <a:xfrm>
            <a:off x="4482734" y="452595"/>
            <a:ext cx="3254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Bootstrap sample C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1085951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2CFE2C1-B613-6F78-AEC0-CB4F9A7C71CA}"/>
              </a:ext>
            </a:extLst>
          </p:cNvPr>
          <p:cNvSpPr/>
          <p:nvPr/>
        </p:nvSpPr>
        <p:spPr>
          <a:xfrm>
            <a:off x="1183128" y="2335423"/>
            <a:ext cx="1366982" cy="7204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4FCA0-AE29-D36F-E6B5-98BFE9AADDBA}"/>
              </a:ext>
            </a:extLst>
          </p:cNvPr>
          <p:cNvSpPr txBox="1"/>
          <p:nvPr/>
        </p:nvSpPr>
        <p:spPr>
          <a:xfrm>
            <a:off x="1257723" y="2510975"/>
            <a:ext cx="121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App usage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F8B9FB-FFBE-FED9-AD66-2944501F7310}"/>
              </a:ext>
            </a:extLst>
          </p:cNvPr>
          <p:cNvCxnSpPr>
            <a:stCxn id="4" idx="3"/>
          </p:cNvCxnSpPr>
          <p:nvPr/>
        </p:nvCxnSpPr>
        <p:spPr>
          <a:xfrm flipH="1">
            <a:off x="474784" y="2950354"/>
            <a:ext cx="908534" cy="746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235C32-FAF2-F2B9-15D6-423EF8EDC36A}"/>
              </a:ext>
            </a:extLst>
          </p:cNvPr>
          <p:cNvCxnSpPr>
            <a:stCxn id="4" idx="4"/>
          </p:cNvCxnSpPr>
          <p:nvPr/>
        </p:nvCxnSpPr>
        <p:spPr>
          <a:xfrm flipH="1">
            <a:off x="1866618" y="3055859"/>
            <a:ext cx="1" cy="716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3B6F12-004F-7DC5-A187-C6CD227786B0}"/>
              </a:ext>
            </a:extLst>
          </p:cNvPr>
          <p:cNvCxnSpPr>
            <a:stCxn id="4" idx="5"/>
          </p:cNvCxnSpPr>
          <p:nvPr/>
        </p:nvCxnSpPr>
        <p:spPr>
          <a:xfrm>
            <a:off x="2349920" y="2950354"/>
            <a:ext cx="868064" cy="746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193FCEA-EA1D-DBEE-528B-C7F71ACAD2FE}"/>
              </a:ext>
            </a:extLst>
          </p:cNvPr>
          <p:cNvSpPr txBox="1"/>
          <p:nvPr/>
        </p:nvSpPr>
        <p:spPr>
          <a:xfrm>
            <a:off x="520851" y="3026272"/>
            <a:ext cx="600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Rarely</a:t>
            </a:r>
            <a:endParaRPr lang="en-IE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2582CE-E414-05CF-5DCD-35BCFEBAD9D6}"/>
              </a:ext>
            </a:extLst>
          </p:cNvPr>
          <p:cNvSpPr txBox="1"/>
          <p:nvPr/>
        </p:nvSpPr>
        <p:spPr>
          <a:xfrm>
            <a:off x="1265745" y="3251445"/>
            <a:ext cx="666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Weekly</a:t>
            </a:r>
            <a:endParaRPr lang="en-IE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9CCB36-188D-FF0D-D7E1-8B35E07D3CE2}"/>
              </a:ext>
            </a:extLst>
          </p:cNvPr>
          <p:cNvSpPr txBox="1"/>
          <p:nvPr/>
        </p:nvSpPr>
        <p:spPr>
          <a:xfrm>
            <a:off x="2666457" y="3091501"/>
            <a:ext cx="517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Daily</a:t>
            </a:r>
            <a:endParaRPr lang="en-IE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2E9CA-759A-4521-C12F-3C78034BDF5E}"/>
              </a:ext>
            </a:extLst>
          </p:cNvPr>
          <p:cNvSpPr txBox="1"/>
          <p:nvPr/>
        </p:nvSpPr>
        <p:spPr>
          <a:xfrm>
            <a:off x="63613" y="3651297"/>
            <a:ext cx="547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Low</a:t>
            </a:r>
            <a:endParaRPr lang="en-IE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CD7CFE-3F26-7D62-AC0E-17414F0B5549}"/>
              </a:ext>
            </a:extLst>
          </p:cNvPr>
          <p:cNvSpPr txBox="1"/>
          <p:nvPr/>
        </p:nvSpPr>
        <p:spPr>
          <a:xfrm>
            <a:off x="1577288" y="3723436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High</a:t>
            </a:r>
            <a:endParaRPr lang="en-IE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04B1D2-FA1D-AAE3-A8E4-AD1A51807431}"/>
              </a:ext>
            </a:extLst>
          </p:cNvPr>
          <p:cNvSpPr txBox="1"/>
          <p:nvPr/>
        </p:nvSpPr>
        <p:spPr>
          <a:xfrm>
            <a:off x="3055935" y="3651297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High</a:t>
            </a:r>
            <a:endParaRPr lang="en-IE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A1593-2A01-411B-25A4-BFD631DFD60C}"/>
              </a:ext>
            </a:extLst>
          </p:cNvPr>
          <p:cNvSpPr/>
          <p:nvPr/>
        </p:nvSpPr>
        <p:spPr>
          <a:xfrm>
            <a:off x="5043377" y="2259623"/>
            <a:ext cx="1556579" cy="9369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87717E-0E5A-4FDE-947E-D9B022DF7FC4}"/>
              </a:ext>
            </a:extLst>
          </p:cNvPr>
          <p:cNvSpPr txBox="1"/>
          <p:nvPr/>
        </p:nvSpPr>
        <p:spPr>
          <a:xfrm>
            <a:off x="5075291" y="2477834"/>
            <a:ext cx="1492749" cy="649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/>
              <a:t>Notifications 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183784-AA12-F201-1DE5-53B56360766B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4524630" y="3059328"/>
            <a:ext cx="746703" cy="778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0526C4-19E0-DB10-7A4A-B18D03E5E731}"/>
              </a:ext>
            </a:extLst>
          </p:cNvPr>
          <p:cNvCxnSpPr>
            <a:cxnSpLocks/>
            <a:stCxn id="15" idx="5"/>
          </p:cNvCxnSpPr>
          <p:nvPr/>
        </p:nvCxnSpPr>
        <p:spPr>
          <a:xfrm>
            <a:off x="6372000" y="3059328"/>
            <a:ext cx="895830" cy="778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1800322-64E9-FFA3-538D-60E068D79523}"/>
              </a:ext>
            </a:extLst>
          </p:cNvPr>
          <p:cNvSpPr txBox="1"/>
          <p:nvPr/>
        </p:nvSpPr>
        <p:spPr>
          <a:xfrm>
            <a:off x="4570697" y="316694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no</a:t>
            </a:r>
            <a:endParaRPr lang="en-IE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B742B2-CE7E-6E3C-B6CD-D9C14EEED135}"/>
              </a:ext>
            </a:extLst>
          </p:cNvPr>
          <p:cNvSpPr txBox="1"/>
          <p:nvPr/>
        </p:nvSpPr>
        <p:spPr>
          <a:xfrm>
            <a:off x="6716303" y="3232178"/>
            <a:ext cx="409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yes</a:t>
            </a:r>
            <a:endParaRPr lang="en-IE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090C2C-4C47-A7CF-93AB-84B37C30ED08}"/>
              </a:ext>
            </a:extLst>
          </p:cNvPr>
          <p:cNvSpPr txBox="1"/>
          <p:nvPr/>
        </p:nvSpPr>
        <p:spPr>
          <a:xfrm>
            <a:off x="4113459" y="3791974"/>
            <a:ext cx="547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Low</a:t>
            </a:r>
            <a:endParaRPr lang="en-IE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FC1FD1-15E8-4EA6-62FB-11DC28BD1071}"/>
              </a:ext>
            </a:extLst>
          </p:cNvPr>
          <p:cNvSpPr txBox="1"/>
          <p:nvPr/>
        </p:nvSpPr>
        <p:spPr>
          <a:xfrm>
            <a:off x="7105781" y="3791974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High</a:t>
            </a:r>
            <a:endParaRPr lang="en-IE" sz="16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117D176-F4F0-E372-875E-F7E162B40848}"/>
              </a:ext>
            </a:extLst>
          </p:cNvPr>
          <p:cNvSpPr/>
          <p:nvPr/>
        </p:nvSpPr>
        <p:spPr>
          <a:xfrm>
            <a:off x="9093223" y="2259623"/>
            <a:ext cx="1556579" cy="9369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2EDCA5-8B4A-427C-DA41-E71D9B067C64}"/>
              </a:ext>
            </a:extLst>
          </p:cNvPr>
          <p:cNvSpPr txBox="1"/>
          <p:nvPr/>
        </p:nvSpPr>
        <p:spPr>
          <a:xfrm>
            <a:off x="9125137" y="2477834"/>
            <a:ext cx="149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/>
              <a:t>Multiple accounts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354D54-35DB-F0E0-CA0E-CF4ED49AE0CB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8574476" y="3059328"/>
            <a:ext cx="746703" cy="778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5B1A38-81B6-4551-7B91-E3F158DA1D5A}"/>
              </a:ext>
            </a:extLst>
          </p:cNvPr>
          <p:cNvCxnSpPr>
            <a:cxnSpLocks/>
            <a:stCxn id="23" idx="5"/>
          </p:cNvCxnSpPr>
          <p:nvPr/>
        </p:nvCxnSpPr>
        <p:spPr>
          <a:xfrm>
            <a:off x="10421846" y="3059328"/>
            <a:ext cx="895830" cy="778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D71B168-5AA8-AD15-F35B-2CBEDBF8894C}"/>
              </a:ext>
            </a:extLst>
          </p:cNvPr>
          <p:cNvSpPr txBox="1"/>
          <p:nvPr/>
        </p:nvSpPr>
        <p:spPr>
          <a:xfrm>
            <a:off x="8620543" y="316694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no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8DD0DE-EA29-CAFD-E118-542034D9AC76}"/>
              </a:ext>
            </a:extLst>
          </p:cNvPr>
          <p:cNvSpPr txBox="1"/>
          <p:nvPr/>
        </p:nvSpPr>
        <p:spPr>
          <a:xfrm>
            <a:off x="10766149" y="3232178"/>
            <a:ext cx="4092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200" dirty="0"/>
              <a:t>yes</a:t>
            </a:r>
            <a:endParaRPr lang="en-IE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D13D6C-350F-14BA-A00E-6D790AFA03D4}"/>
              </a:ext>
            </a:extLst>
          </p:cNvPr>
          <p:cNvSpPr txBox="1"/>
          <p:nvPr/>
        </p:nvSpPr>
        <p:spPr>
          <a:xfrm>
            <a:off x="8163305" y="3791974"/>
            <a:ext cx="547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Low</a:t>
            </a:r>
            <a:endParaRPr lang="en-IE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6E5448-A17B-6102-5CB1-1F20D8AACA56}"/>
              </a:ext>
            </a:extLst>
          </p:cNvPr>
          <p:cNvSpPr txBox="1"/>
          <p:nvPr/>
        </p:nvSpPr>
        <p:spPr>
          <a:xfrm>
            <a:off x="11155627" y="3791974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High</a:t>
            </a:r>
            <a:endParaRPr lang="en-IE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504BF7-DDB9-34A3-AB67-19451CF68E81}"/>
              </a:ext>
            </a:extLst>
          </p:cNvPr>
          <p:cNvSpPr txBox="1"/>
          <p:nvPr/>
        </p:nvSpPr>
        <p:spPr>
          <a:xfrm>
            <a:off x="842817" y="923192"/>
            <a:ext cx="10415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Query: App usage = “daily”; Notifications on = “no”; Multiple accounts = “yes”; Has close friends = “yes”</a:t>
            </a:r>
            <a:endParaRPr lang="en-I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F661EA-4A53-5FCA-D7EB-A6BBC521BF00}"/>
              </a:ext>
            </a:extLst>
          </p:cNvPr>
          <p:cNvSpPr txBox="1"/>
          <p:nvPr/>
        </p:nvSpPr>
        <p:spPr>
          <a:xfrm>
            <a:off x="923373" y="4098758"/>
            <a:ext cx="1967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Prediction: “High”</a:t>
            </a:r>
            <a:endParaRPr lang="en-I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3AF05B-F942-9FD8-DA99-D4EFBA6813BE}"/>
              </a:ext>
            </a:extLst>
          </p:cNvPr>
          <p:cNvSpPr txBox="1"/>
          <p:nvPr/>
        </p:nvSpPr>
        <p:spPr>
          <a:xfrm>
            <a:off x="4925281" y="4069540"/>
            <a:ext cx="1920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Prediction: “Low”</a:t>
            </a:r>
            <a:endParaRPr lang="en-I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05EE85-5D5A-0179-1041-AA5CDCC8CD53}"/>
              </a:ext>
            </a:extLst>
          </p:cNvPr>
          <p:cNvSpPr txBox="1"/>
          <p:nvPr/>
        </p:nvSpPr>
        <p:spPr>
          <a:xfrm>
            <a:off x="9003294" y="4098758"/>
            <a:ext cx="1967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Prediction: “High”</a:t>
            </a:r>
            <a:endParaRPr lang="en-I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75B430-D44E-C246-60F9-0C3F61BC404B}"/>
              </a:ext>
            </a:extLst>
          </p:cNvPr>
          <p:cNvSpPr txBox="1"/>
          <p:nvPr/>
        </p:nvSpPr>
        <p:spPr>
          <a:xfrm>
            <a:off x="4667246" y="5419979"/>
            <a:ext cx="2600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Majority voting </a:t>
            </a:r>
            <a:r>
              <a:rPr lang="en-DE" dirty="0">
                <a:sym typeface="Wingdings" panose="05000000000000000000" pitchFamily="2" charset="2"/>
              </a:rPr>
              <a:t> “High”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13404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231</Words>
  <Application>Microsoft Office PowerPoint</Application>
  <PresentationFormat>Widescreen</PresentationFormat>
  <Paragraphs>117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Rouven Lattner</dc:creator>
  <cp:lastModifiedBy>Rouven Lattner</cp:lastModifiedBy>
  <cp:revision>3</cp:revision>
  <dcterms:created xsi:type="dcterms:W3CDTF">2025-10-22T14:54:27Z</dcterms:created>
  <dcterms:modified xsi:type="dcterms:W3CDTF">2025-10-22T16:15:36Z</dcterms:modified>
</cp:coreProperties>
</file>