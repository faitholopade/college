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37"/>
  </p:normalViewPr>
  <p:slideViewPr>
    <p:cSldViewPr snapToGrid="0">
      <p:cViewPr varScale="1">
        <p:scale>
          <a:sx n="129" d="100"/>
          <a:sy n="129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A5DE-9F25-810F-99C2-26EEFEE4F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DB801-D054-C056-637E-40072F673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4810B-DB1F-D076-DCFD-AE568FDF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982D-C4A1-C7DB-AAF2-6F1833A5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19DC8-A8F3-35F0-DE3A-115D94BB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349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D514-D54E-F191-CE83-CDE86530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27C59-0B7C-116A-AC6D-1F2450C4F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66CA-D773-90FD-4250-8CE93D46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A360-6BED-9066-2EF2-AAFB0700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CD62-E028-A5E7-55B1-2B46AAEC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254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DD3B-0DBA-5AAB-3F12-EC7DCE19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5240-4FF9-3191-089A-D797CE98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9B37B-AE1F-3527-4E65-B9DCAA6D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8A41A-5C26-CABF-C2D8-79F6923E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0BC7D-40DA-DA7C-E086-F39896AE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657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4482-1E67-29E5-33F0-67434B92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37A2-127F-EA25-132C-42CFE4D08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6985F-DB9D-77AF-34B4-FA954E0D6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891EF-613C-25F6-F456-DC9E2E58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4B929-3031-BE16-A96E-F1C52A9B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F6CB9-1479-800B-194A-35B41364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142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F75D-9D2A-E31B-FB9E-B5806AAB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26E1-26A7-469E-4760-CD4422C6E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BF0F9-FE6B-489E-ED1D-C309726CC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64F2E-A8D1-6350-73EA-201474EB7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5EB218-A208-573E-04D6-E0B1AFE46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454DE-155A-0F22-955D-55B08949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208CD-8D3A-FDFC-7941-F7352F01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DA7BD-E8D7-8A33-FBBC-23D1724F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787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9460-ABE6-2577-A75B-D45BF84F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EB034-F656-0D06-8979-63788C3C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55D73-0C52-42B9-26C4-F5E48564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E0F8B-32E1-57EE-353E-5743D57D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6949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0D205-6653-8D77-9942-41100DE1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64830-CD80-D0D4-DBE8-62F0CC02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1538C-F18E-E6FA-6E0A-81228051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454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F80E-F77A-817E-B760-77924A24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96310-8C9F-F75A-4675-21FE4EBF9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55D7E-520A-9681-EA86-42BF5A681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97C54-5362-B269-1C32-07A859C6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EF175-5F0E-9494-A5FA-67B89CB5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9CE50-1C24-8F6E-9B59-0DF9BA73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900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2863-EE66-5C4A-AB7B-667943AA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B215F-DEC1-D587-E140-3BD9C6CC0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6503A-AEE4-40DA-9BDD-7DDDA7D6B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EEEBB-9643-889A-5947-925127E2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2F95B-C3CE-9513-9A81-C033C79B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F966A-20DF-9EBE-8217-57B71008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420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19DE-C427-CC0B-6AE5-688E3DAE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0ED9F-6927-1B0B-A9EB-4E7B20CAD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B9E4D-6DAB-FC90-C193-EE4BA6DE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D9C30-80EF-F180-CB3A-C0C43794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F0AC0-218B-04FA-A97D-FEAE847F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925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B29C1-1C7A-D66F-ED1F-4DE655964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97346-E37C-D54F-70A4-7A3DD7580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8FCA9-1F66-2114-7655-E9934D41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C43A3-883B-702E-AADA-4878E875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A58E0-B33F-8063-E00F-C85ADEDE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289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6C18B-C567-999C-8A90-A93EDFAB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3276D-9FA6-7455-8E8F-EA336ED1E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A0284-C2E9-775C-80E1-D97B1CF3B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05BD4-3BE1-8F40-98B1-5C9CCC359BEE}" type="datetimeFigureOut">
              <a:rPr lang="en-DE" smtClean="0"/>
              <a:t>14.10.25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9C05F-2C9D-860A-ED48-71B8186A2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CA678-0694-0D79-12C6-838EACC81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F3636-39BD-2A48-B864-3B1230BCC0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203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C2B73B-4733-8D50-5DCE-94B4022ED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446683"/>
              </p:ext>
            </p:extLst>
          </p:nvPr>
        </p:nvGraphicFramePr>
        <p:xfrm>
          <a:off x="1896737" y="946306"/>
          <a:ext cx="8331789" cy="573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160">
                  <a:extLst>
                    <a:ext uri="{9D8B030D-6E8A-4147-A177-3AD203B41FA5}">
                      <a16:colId xmlns:a16="http://schemas.microsoft.com/office/drawing/2014/main" val="1048600012"/>
                    </a:ext>
                  </a:extLst>
                </a:gridCol>
                <a:gridCol w="1051252">
                  <a:extLst>
                    <a:ext uri="{9D8B030D-6E8A-4147-A177-3AD203B41FA5}">
                      <a16:colId xmlns:a16="http://schemas.microsoft.com/office/drawing/2014/main" val="774577218"/>
                    </a:ext>
                  </a:extLst>
                </a:gridCol>
                <a:gridCol w="839072">
                  <a:extLst>
                    <a:ext uri="{9D8B030D-6E8A-4147-A177-3AD203B41FA5}">
                      <a16:colId xmlns:a16="http://schemas.microsoft.com/office/drawing/2014/main" val="2359466107"/>
                    </a:ext>
                  </a:extLst>
                </a:gridCol>
                <a:gridCol w="2282077">
                  <a:extLst>
                    <a:ext uri="{9D8B030D-6E8A-4147-A177-3AD203B41FA5}">
                      <a16:colId xmlns:a16="http://schemas.microsoft.com/office/drawing/2014/main" val="2076422516"/>
                    </a:ext>
                  </a:extLst>
                </a:gridCol>
                <a:gridCol w="1380391">
                  <a:extLst>
                    <a:ext uri="{9D8B030D-6E8A-4147-A177-3AD203B41FA5}">
                      <a16:colId xmlns:a16="http://schemas.microsoft.com/office/drawing/2014/main" val="3792844229"/>
                    </a:ext>
                  </a:extLst>
                </a:gridCol>
                <a:gridCol w="793299">
                  <a:extLst>
                    <a:ext uri="{9D8B030D-6E8A-4147-A177-3AD203B41FA5}">
                      <a16:colId xmlns:a16="http://schemas.microsoft.com/office/drawing/2014/main" val="261892128"/>
                    </a:ext>
                  </a:extLst>
                </a:gridCol>
                <a:gridCol w="636538">
                  <a:extLst>
                    <a:ext uri="{9D8B030D-6E8A-4147-A177-3AD203B41FA5}">
                      <a16:colId xmlns:a16="http://schemas.microsoft.com/office/drawing/2014/main" val="3701220450"/>
                    </a:ext>
                  </a:extLst>
                </a:gridCol>
              </a:tblGrid>
              <a:tr h="466472"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Feature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Part.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Rem.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201084"/>
                  </a:ext>
                </a:extLst>
              </a:tr>
              <a:tr h="466472"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outlook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sunny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1, d2, d8, d9, d11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0.97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0.69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0.25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961394"/>
                  </a:ext>
                </a:extLst>
              </a:tr>
              <a:tr h="466472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overcast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3, d7, d12, d13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412869"/>
                  </a:ext>
                </a:extLst>
              </a:tr>
              <a:tr h="466472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rainy</a:t>
                      </a:r>
                    </a:p>
                  </a:txBody>
                  <a:tcPr anchor="ctr">
                    <a:lnL w="12700" cmpd="sng">
                      <a:noFill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D3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d4, d5, d6, d10, d14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0.97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786389"/>
                  </a:ext>
                </a:extLst>
              </a:tr>
              <a:tr h="466472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humidity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low</a:t>
                      </a:r>
                      <a:endParaRPr lang="en-DE" sz="16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5, d6, d7, d9, d10, d11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0.59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0.79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0.15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13492"/>
                  </a:ext>
                </a:extLst>
              </a:tr>
              <a:tr h="66638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high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D5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1, d2, d3, d4, d8, d12, d14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0.99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45250"/>
                  </a:ext>
                </a:extLst>
              </a:tr>
              <a:tr h="666388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windy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FALSE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D6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1, d3, d4, d5, d8, d9, d10, d13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0.81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0.89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0.05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523639"/>
                  </a:ext>
                </a:extLst>
              </a:tr>
              <a:tr h="66638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TRUE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D7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2, d6, d7, d11, d12, d14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1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1772"/>
                  </a:ext>
                </a:extLst>
              </a:tr>
              <a:tr h="466472"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temperature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cool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D8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4, d5, d6, d7, d9, d14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0.03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2151878"/>
                  </a:ext>
                </a:extLst>
              </a:tr>
              <a:tr h="466472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8, d10, d11, d12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0.81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965112"/>
                  </a:ext>
                </a:extLst>
              </a:tr>
              <a:tr h="466472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1, d2, d3, d13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3031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876DEA-6898-69B9-EB8F-CAC473643620}"/>
              </a:ext>
            </a:extLst>
          </p:cNvPr>
          <p:cNvSpPr txBox="1"/>
          <p:nvPr/>
        </p:nvSpPr>
        <p:spPr>
          <a:xfrm>
            <a:off x="870301" y="180754"/>
            <a:ext cx="107036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calculate the entropy, remainder, and information gain (IG) for each feature in the </a:t>
            </a:r>
            <a:r>
              <a:rPr lang="en-GB" dirty="0" err="1"/>
              <a:t>WeatherPlay</a:t>
            </a:r>
            <a:r>
              <a:rPr lang="en-GB" dirty="0"/>
              <a:t> dataset.</a:t>
            </a:r>
          </a:p>
          <a:p>
            <a:r>
              <a:rPr lang="en-GB" dirty="0"/>
              <a:t>The feature with the highest information gain provides the best split at this stage.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95024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5062498-DE00-8635-DA42-B77F749F718B}"/>
              </a:ext>
            </a:extLst>
          </p:cNvPr>
          <p:cNvSpPr txBox="1"/>
          <p:nvPr/>
        </p:nvSpPr>
        <p:spPr>
          <a:xfrm>
            <a:off x="2005200" y="3980134"/>
            <a:ext cx="818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Outlook has the highest information gain, so it becomes the root node of the tree.</a:t>
            </a:r>
            <a:br>
              <a:rPr lang="en-GB" dirty="0"/>
            </a:br>
            <a:r>
              <a:rPr lang="en-GB" dirty="0"/>
              <a:t>We partition the dataset into three subsets based on the levels of </a:t>
            </a:r>
            <a:r>
              <a:rPr lang="en-GB" i="1" dirty="0"/>
              <a:t>“</a:t>
            </a:r>
            <a:r>
              <a:rPr lang="en-GB" dirty="0"/>
              <a:t>outlook”.</a:t>
            </a:r>
          </a:p>
          <a:p>
            <a:r>
              <a:rPr lang="en-GB" dirty="0"/>
              <a:t>“outlook = overcast” only contains “yes”, </a:t>
            </a:r>
            <a:r>
              <a:rPr lang="en-GB"/>
              <a:t>making it pure with </a:t>
            </a:r>
            <a:r>
              <a:rPr lang="en-GB" dirty="0"/>
              <a:t>“yes” </a:t>
            </a:r>
            <a:r>
              <a:rPr lang="en-GB" dirty="0" err="1"/>
              <a:t>leafs</a:t>
            </a:r>
            <a:endParaRPr lang="en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1814DB-5E16-278A-5360-42DB908FFA99}"/>
              </a:ext>
            </a:extLst>
          </p:cNvPr>
          <p:cNvSpPr/>
          <p:nvPr/>
        </p:nvSpPr>
        <p:spPr>
          <a:xfrm>
            <a:off x="5392418" y="30480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FE90B-4514-E21E-1376-F1A4EF586819}"/>
              </a:ext>
            </a:extLst>
          </p:cNvPr>
          <p:cNvSpPr txBox="1"/>
          <p:nvPr/>
        </p:nvSpPr>
        <p:spPr>
          <a:xfrm>
            <a:off x="5585229" y="480352"/>
            <a:ext cx="98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Outlook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29B349-1C1A-BB64-9FD8-49B8B4FA4D9B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2197462" y="665018"/>
            <a:ext cx="3194956" cy="704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66149B4-F802-3679-AA2E-8EF7A07B29FF}"/>
              </a:ext>
            </a:extLst>
          </p:cNvPr>
          <p:cNvSpPr txBox="1"/>
          <p:nvPr/>
        </p:nvSpPr>
        <p:spPr>
          <a:xfrm rot="20856951">
            <a:off x="3465527" y="604045"/>
            <a:ext cx="108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overcast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8E41C4-66A4-CD28-2428-39FB1D07A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555682"/>
              </p:ext>
            </p:extLst>
          </p:nvPr>
        </p:nvGraphicFramePr>
        <p:xfrm>
          <a:off x="340127" y="1369642"/>
          <a:ext cx="3714670" cy="1684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414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1640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63778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597903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9901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470034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398255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39417">
                <a:tc rowSpan="4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hot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39417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391774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391774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0C73D7-D5E1-4BE5-00D8-B6202289B6C6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 flipH="1">
            <a:off x="6021572" y="1025236"/>
            <a:ext cx="54337" cy="714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3EAF7D-50D2-B5CD-245D-868DE8A25F6D}"/>
              </a:ext>
            </a:extLst>
          </p:cNvPr>
          <p:cNvSpPr txBox="1"/>
          <p:nvPr/>
        </p:nvSpPr>
        <p:spPr>
          <a:xfrm>
            <a:off x="5249675" y="1197797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sunny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2F1882B-1C23-DE1F-E035-EA05F8FE7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931263"/>
              </p:ext>
            </p:extLst>
          </p:nvPr>
        </p:nvGraphicFramePr>
        <p:xfrm>
          <a:off x="4121806" y="1739771"/>
          <a:ext cx="3799532" cy="1689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26241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67918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5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hot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pPr algn="ctr"/>
                      <a:endParaRPr lang="en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l</a:t>
                      </a:r>
                      <a:r>
                        <a:rPr lang="en-DE" sz="1050" dirty="0"/>
                        <a:t>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06828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46FEA6-B8C9-24FA-5662-AB0A4ED3EFA9}"/>
              </a:ext>
            </a:extLst>
          </p:cNvPr>
          <p:cNvCxnSpPr>
            <a:cxnSpLocks/>
            <a:stCxn id="4" idx="6"/>
            <a:endCxn id="16" idx="0"/>
          </p:cNvCxnSpPr>
          <p:nvPr/>
        </p:nvCxnSpPr>
        <p:spPr>
          <a:xfrm>
            <a:off x="6759400" y="665018"/>
            <a:ext cx="3128713" cy="717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F542900-E6C7-976C-315D-E2ADD7D0D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719181"/>
              </p:ext>
            </p:extLst>
          </p:nvPr>
        </p:nvGraphicFramePr>
        <p:xfrm>
          <a:off x="7988347" y="1382463"/>
          <a:ext cx="3799532" cy="1689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17862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6297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5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cool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low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pPr algn="ctr"/>
                      <a:endParaRPr lang="en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0682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3C3BBC4-9A86-DE13-268F-9BD07B0438D6}"/>
              </a:ext>
            </a:extLst>
          </p:cNvPr>
          <p:cNvSpPr txBox="1"/>
          <p:nvPr/>
        </p:nvSpPr>
        <p:spPr>
          <a:xfrm rot="750632">
            <a:off x="7988347" y="710374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rainy</a:t>
            </a:r>
          </a:p>
        </p:txBody>
      </p:sp>
    </p:spTree>
    <p:extLst>
      <p:ext uri="{BB962C8B-B14F-4D97-AF65-F5344CB8AC3E}">
        <p14:creationId xmlns:p14="http://schemas.microsoft.com/office/powerpoint/2010/main" val="85360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625B07-E2DB-F5BF-C587-70BE89DAA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048421"/>
              </p:ext>
            </p:extLst>
          </p:nvPr>
        </p:nvGraphicFramePr>
        <p:xfrm>
          <a:off x="1503326" y="925032"/>
          <a:ext cx="9185348" cy="466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376">
                  <a:extLst>
                    <a:ext uri="{9D8B030D-6E8A-4147-A177-3AD203B41FA5}">
                      <a16:colId xmlns:a16="http://schemas.microsoft.com/office/drawing/2014/main" val="1048600012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774577218"/>
                    </a:ext>
                  </a:extLst>
                </a:gridCol>
                <a:gridCol w="925032">
                  <a:extLst>
                    <a:ext uri="{9D8B030D-6E8A-4147-A177-3AD203B41FA5}">
                      <a16:colId xmlns:a16="http://schemas.microsoft.com/office/drawing/2014/main" val="2359466107"/>
                    </a:ext>
                  </a:extLst>
                </a:gridCol>
                <a:gridCol w="2515867">
                  <a:extLst>
                    <a:ext uri="{9D8B030D-6E8A-4147-A177-3AD203B41FA5}">
                      <a16:colId xmlns:a16="http://schemas.microsoft.com/office/drawing/2014/main" val="2076422516"/>
                    </a:ext>
                  </a:extLst>
                </a:gridCol>
                <a:gridCol w="1521806">
                  <a:extLst>
                    <a:ext uri="{9D8B030D-6E8A-4147-A177-3AD203B41FA5}">
                      <a16:colId xmlns:a16="http://schemas.microsoft.com/office/drawing/2014/main" val="3792844229"/>
                    </a:ext>
                  </a:extLst>
                </a:gridCol>
                <a:gridCol w="874569">
                  <a:extLst>
                    <a:ext uri="{9D8B030D-6E8A-4147-A177-3AD203B41FA5}">
                      <a16:colId xmlns:a16="http://schemas.microsoft.com/office/drawing/2014/main" val="261892128"/>
                    </a:ext>
                  </a:extLst>
                </a:gridCol>
                <a:gridCol w="701749">
                  <a:extLst>
                    <a:ext uri="{9D8B030D-6E8A-4147-A177-3AD203B41FA5}">
                      <a16:colId xmlns:a16="http://schemas.microsoft.com/office/drawing/2014/main" val="3701220450"/>
                    </a:ext>
                  </a:extLst>
                </a:gridCol>
              </a:tblGrid>
              <a:tr h="502408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Feature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Part.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Rem.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201084"/>
                  </a:ext>
                </a:extLst>
              </a:tr>
              <a:tr h="502408"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humidity</a:t>
                      </a:r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d9, d11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0.97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13492"/>
                  </a:ext>
                </a:extLst>
              </a:tr>
              <a:tr h="717725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high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D12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  <a:r>
                        <a:rPr lang="en-DE" dirty="0"/>
                        <a:t>1, d2, d8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45250"/>
                  </a:ext>
                </a:extLst>
              </a:tr>
              <a:tr h="717725"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windy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FALSE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D13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</a:t>
                      </a:r>
                      <a:r>
                        <a:rPr lang="en-DE" dirty="0"/>
                        <a:t>1, d8, d9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0.92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0.95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0.02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523639"/>
                  </a:ext>
                </a:extLst>
              </a:tr>
              <a:tr h="717725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TRUE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D14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  <a:r>
                        <a:rPr lang="en-DE" dirty="0"/>
                        <a:t>2, d11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1772"/>
                  </a:ext>
                </a:extLst>
              </a:tr>
              <a:tr h="502408">
                <a:tc rowSpan="3">
                  <a:txBody>
                    <a:bodyPr/>
                    <a:lstStyle/>
                    <a:p>
                      <a:pPr algn="ctr"/>
                      <a:r>
                        <a:rPr lang="en-DE" dirty="0"/>
                        <a:t>temperature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cool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0.57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2151878"/>
                  </a:ext>
                </a:extLst>
              </a:tr>
              <a:tr h="50240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  <a:r>
                        <a:rPr lang="en-DE" dirty="0"/>
                        <a:t>8, d11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965112"/>
                  </a:ext>
                </a:extLst>
              </a:tr>
              <a:tr h="50240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</a:t>
                      </a:r>
                      <a:r>
                        <a:rPr lang="en-DE" dirty="0"/>
                        <a:t>1, 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3031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1C3CD6-7218-A3E2-6B9A-671B95C12B9A}"/>
              </a:ext>
            </a:extLst>
          </p:cNvPr>
          <p:cNvSpPr txBox="1"/>
          <p:nvPr/>
        </p:nvSpPr>
        <p:spPr>
          <a:xfrm>
            <a:off x="4142901" y="191386"/>
            <a:ext cx="4148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Partition of dataset D1 (outlook = sunny)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86C08-7B19-2507-E9EA-C51B9E20591B}"/>
              </a:ext>
            </a:extLst>
          </p:cNvPr>
          <p:cNvSpPr txBox="1"/>
          <p:nvPr/>
        </p:nvSpPr>
        <p:spPr>
          <a:xfrm>
            <a:off x="2199170" y="5741581"/>
            <a:ext cx="8300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Within the </a:t>
            </a:r>
            <a:r>
              <a:rPr lang="en-GB" i="1" dirty="0"/>
              <a:t>“sunny”</a:t>
            </a:r>
            <a:r>
              <a:rPr lang="en-GB" dirty="0"/>
              <a:t> subset, we compute IG for the remaining features.</a:t>
            </a:r>
            <a:br>
              <a:rPr lang="en-GB" dirty="0"/>
            </a:br>
            <a:r>
              <a:rPr lang="en-GB" dirty="0"/>
              <a:t>“humidity” shows the highest information gain and perfectly separates the classes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6624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6B42-6CFB-F51D-5B94-0FB6A952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E838A2-9630-7BBD-684B-B12B9579C254}"/>
              </a:ext>
            </a:extLst>
          </p:cNvPr>
          <p:cNvSpPr/>
          <p:nvPr/>
        </p:nvSpPr>
        <p:spPr>
          <a:xfrm>
            <a:off x="5392418" y="30480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920F8-59E2-B2F5-D422-1FABC6C72D19}"/>
              </a:ext>
            </a:extLst>
          </p:cNvPr>
          <p:cNvSpPr txBox="1"/>
          <p:nvPr/>
        </p:nvSpPr>
        <p:spPr>
          <a:xfrm>
            <a:off x="5585229" y="480352"/>
            <a:ext cx="98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Outlook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FAFAF0-754E-470B-5DA0-D2D1D3597BE8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2197462" y="665018"/>
            <a:ext cx="3194956" cy="704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DDD46B9-23A2-C374-9DFD-BDB123689CD5}"/>
              </a:ext>
            </a:extLst>
          </p:cNvPr>
          <p:cNvSpPr txBox="1"/>
          <p:nvPr/>
        </p:nvSpPr>
        <p:spPr>
          <a:xfrm rot="20856951">
            <a:off x="3465527" y="604045"/>
            <a:ext cx="108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overcast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3F2378-A80D-BEFE-B886-89980DA9FE09}"/>
              </a:ext>
            </a:extLst>
          </p:cNvPr>
          <p:cNvGraphicFramePr>
            <a:graphicFrameLocks noGrp="1"/>
          </p:cNvGraphicFramePr>
          <p:nvPr/>
        </p:nvGraphicFramePr>
        <p:xfrm>
          <a:off x="340127" y="1369642"/>
          <a:ext cx="3714670" cy="1684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414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1640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63778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597903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9901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470034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398255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39417">
                <a:tc rowSpan="4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hot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39417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391774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391774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1923F3-73EA-7CFB-BDEF-0D6A5A4A7B0D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 flipH="1">
            <a:off x="5777355" y="1025236"/>
            <a:ext cx="298554" cy="1683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EC0B23-ABEE-A580-FA34-724FEE82D521}"/>
              </a:ext>
            </a:extLst>
          </p:cNvPr>
          <p:cNvSpPr txBox="1"/>
          <p:nvPr/>
        </p:nvSpPr>
        <p:spPr>
          <a:xfrm>
            <a:off x="5164779" y="1803309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sunny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3D6829-A2D7-B4F3-08BF-F6D5EB87C91F}"/>
              </a:ext>
            </a:extLst>
          </p:cNvPr>
          <p:cNvCxnSpPr>
            <a:cxnSpLocks/>
            <a:stCxn id="4" idx="6"/>
            <a:endCxn id="16" idx="0"/>
          </p:cNvCxnSpPr>
          <p:nvPr/>
        </p:nvCxnSpPr>
        <p:spPr>
          <a:xfrm>
            <a:off x="6759400" y="665018"/>
            <a:ext cx="3128713" cy="717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ECED837-86C1-64F5-6766-6265D0B02666}"/>
              </a:ext>
            </a:extLst>
          </p:cNvPr>
          <p:cNvGraphicFramePr>
            <a:graphicFrameLocks noGrp="1"/>
          </p:cNvGraphicFramePr>
          <p:nvPr/>
        </p:nvGraphicFramePr>
        <p:xfrm>
          <a:off x="7988347" y="1382463"/>
          <a:ext cx="3799532" cy="1689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17862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6297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5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cool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low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pPr algn="ctr"/>
                      <a:endParaRPr lang="en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0682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F6C7A85-6B65-B244-6751-C8DE185DC12E}"/>
              </a:ext>
            </a:extLst>
          </p:cNvPr>
          <p:cNvSpPr txBox="1"/>
          <p:nvPr/>
        </p:nvSpPr>
        <p:spPr>
          <a:xfrm rot="750632">
            <a:off x="7988347" y="710374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rainy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9B8C4A-F506-CB60-00CB-1738AA0F45BA}"/>
              </a:ext>
            </a:extLst>
          </p:cNvPr>
          <p:cNvCxnSpPr>
            <a:cxnSpLocks/>
            <a:stCxn id="10" idx="4"/>
            <a:endCxn id="35" idx="0"/>
          </p:cNvCxnSpPr>
          <p:nvPr/>
        </p:nvCxnSpPr>
        <p:spPr>
          <a:xfrm flipH="1">
            <a:off x="2588885" y="3429000"/>
            <a:ext cx="3188470" cy="679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CD325C9-62EA-8B56-4088-6F6874AB7934}"/>
              </a:ext>
            </a:extLst>
          </p:cNvPr>
          <p:cNvSpPr/>
          <p:nvPr/>
        </p:nvSpPr>
        <p:spPr>
          <a:xfrm>
            <a:off x="5093864" y="2708564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04AA42-8FD8-6E60-F309-2DAB5C37131D}"/>
              </a:ext>
            </a:extLst>
          </p:cNvPr>
          <p:cNvSpPr txBox="1"/>
          <p:nvPr/>
        </p:nvSpPr>
        <p:spPr>
          <a:xfrm>
            <a:off x="5254651" y="2884116"/>
            <a:ext cx="10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humidity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F240A-13C2-4FCF-4769-FB6A53C1CF1C}"/>
              </a:ext>
            </a:extLst>
          </p:cNvPr>
          <p:cNvSpPr txBox="1"/>
          <p:nvPr/>
        </p:nvSpPr>
        <p:spPr>
          <a:xfrm rot="20888661">
            <a:off x="3631481" y="3443729"/>
            <a:ext cx="54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low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0768B0-7B5B-BB61-DC76-6FFC90319650}"/>
              </a:ext>
            </a:extLst>
          </p:cNvPr>
          <p:cNvCxnSpPr>
            <a:cxnSpLocks/>
            <a:stCxn id="10" idx="4"/>
            <a:endCxn id="34" idx="0"/>
          </p:cNvCxnSpPr>
          <p:nvPr/>
        </p:nvCxnSpPr>
        <p:spPr>
          <a:xfrm>
            <a:off x="5777355" y="3429000"/>
            <a:ext cx="789233" cy="6974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1C0A66E-194F-06BA-441C-E8CD8433858B}"/>
              </a:ext>
            </a:extLst>
          </p:cNvPr>
          <p:cNvSpPr txBox="1"/>
          <p:nvPr/>
        </p:nvSpPr>
        <p:spPr>
          <a:xfrm rot="2496647">
            <a:off x="6040245" y="3566561"/>
            <a:ext cx="64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high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34418D8-1EE5-0D50-1D9E-39EC86C6E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464731"/>
              </p:ext>
            </p:extLst>
          </p:nvPr>
        </p:nvGraphicFramePr>
        <p:xfrm>
          <a:off x="4666822" y="4126497"/>
          <a:ext cx="3799532" cy="118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26241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67918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3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hot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DC0CB05-80A1-4452-7AB0-C20FC1527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02966"/>
              </p:ext>
            </p:extLst>
          </p:nvPr>
        </p:nvGraphicFramePr>
        <p:xfrm>
          <a:off x="689119" y="4108728"/>
          <a:ext cx="3799532" cy="934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26241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67918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DE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pPr algn="ctr"/>
                      <a:endParaRPr lang="en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l</a:t>
                      </a:r>
                      <a:r>
                        <a:rPr lang="en-DE" sz="1050" dirty="0"/>
                        <a:t>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0682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BDA1E39-FB69-AD5A-9122-2290159A4EA6}"/>
              </a:ext>
            </a:extLst>
          </p:cNvPr>
          <p:cNvSpPr txBox="1"/>
          <p:nvPr/>
        </p:nvSpPr>
        <p:spPr>
          <a:xfrm>
            <a:off x="1737600" y="5640971"/>
            <a:ext cx="8378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“humidity” shows the highest information gain and perfectly separates the classes: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4134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87CC-C983-A6CC-FE73-A91CA0CC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BF71D3-A954-23EB-7127-B2EC5138D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187649"/>
              </p:ext>
            </p:extLst>
          </p:nvPr>
        </p:nvGraphicFramePr>
        <p:xfrm>
          <a:off x="1503326" y="925032"/>
          <a:ext cx="9185348" cy="466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376">
                  <a:extLst>
                    <a:ext uri="{9D8B030D-6E8A-4147-A177-3AD203B41FA5}">
                      <a16:colId xmlns:a16="http://schemas.microsoft.com/office/drawing/2014/main" val="1048600012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774577218"/>
                    </a:ext>
                  </a:extLst>
                </a:gridCol>
                <a:gridCol w="925032">
                  <a:extLst>
                    <a:ext uri="{9D8B030D-6E8A-4147-A177-3AD203B41FA5}">
                      <a16:colId xmlns:a16="http://schemas.microsoft.com/office/drawing/2014/main" val="2359466107"/>
                    </a:ext>
                  </a:extLst>
                </a:gridCol>
                <a:gridCol w="2515867">
                  <a:extLst>
                    <a:ext uri="{9D8B030D-6E8A-4147-A177-3AD203B41FA5}">
                      <a16:colId xmlns:a16="http://schemas.microsoft.com/office/drawing/2014/main" val="2076422516"/>
                    </a:ext>
                  </a:extLst>
                </a:gridCol>
                <a:gridCol w="1521806">
                  <a:extLst>
                    <a:ext uri="{9D8B030D-6E8A-4147-A177-3AD203B41FA5}">
                      <a16:colId xmlns:a16="http://schemas.microsoft.com/office/drawing/2014/main" val="3792844229"/>
                    </a:ext>
                  </a:extLst>
                </a:gridCol>
                <a:gridCol w="874569">
                  <a:extLst>
                    <a:ext uri="{9D8B030D-6E8A-4147-A177-3AD203B41FA5}">
                      <a16:colId xmlns:a16="http://schemas.microsoft.com/office/drawing/2014/main" val="261892128"/>
                    </a:ext>
                  </a:extLst>
                </a:gridCol>
                <a:gridCol w="701749">
                  <a:extLst>
                    <a:ext uri="{9D8B030D-6E8A-4147-A177-3AD203B41FA5}">
                      <a16:colId xmlns:a16="http://schemas.microsoft.com/office/drawing/2014/main" val="3701220450"/>
                    </a:ext>
                  </a:extLst>
                </a:gridCol>
              </a:tblGrid>
              <a:tr h="502408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Feature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Part.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Rem.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201084"/>
                  </a:ext>
                </a:extLst>
              </a:tr>
              <a:tr h="502408"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humidity</a:t>
                      </a:r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  <a:r>
                        <a:rPr lang="en-DE" dirty="0"/>
                        <a:t>5, d6, d10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0.92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0.95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0.02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13492"/>
                  </a:ext>
                </a:extLst>
              </a:tr>
              <a:tr h="717725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high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D19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d4, d14</a:t>
                      </a:r>
                      <a:endParaRPr lang="en-DE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45250"/>
                  </a:ext>
                </a:extLst>
              </a:tr>
              <a:tr h="717725"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windy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FALSE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D20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</a:t>
                      </a:r>
                      <a:r>
                        <a:rPr lang="en-DE" dirty="0"/>
                        <a:t>4, d5, d10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0.97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523639"/>
                  </a:ext>
                </a:extLst>
              </a:tr>
              <a:tr h="717725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TRUE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D21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  <a:r>
                        <a:rPr lang="en-DE" dirty="0"/>
                        <a:t>6, d14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1772"/>
                  </a:ext>
                </a:extLst>
              </a:tr>
              <a:tr h="502408">
                <a:tc rowSpan="3">
                  <a:txBody>
                    <a:bodyPr/>
                    <a:lstStyle/>
                    <a:p>
                      <a:pPr algn="ctr"/>
                      <a:r>
                        <a:rPr lang="en-DE" dirty="0"/>
                        <a:t>temperature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cool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D22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  <a:r>
                        <a:rPr lang="en-DE" dirty="0"/>
                        <a:t>4, d5, d6, d14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0.8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0.17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2151878"/>
                  </a:ext>
                </a:extLst>
              </a:tr>
              <a:tr h="50240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d10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965112"/>
                  </a:ext>
                </a:extLst>
              </a:tr>
              <a:tr h="50240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D24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3031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D4AF8B-CF11-BBF7-7E6B-C8AB4BAA8A1E}"/>
              </a:ext>
            </a:extLst>
          </p:cNvPr>
          <p:cNvSpPr txBox="1"/>
          <p:nvPr/>
        </p:nvSpPr>
        <p:spPr>
          <a:xfrm>
            <a:off x="4142901" y="191386"/>
            <a:ext cx="402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Partition of dataset D3 (outlook = rainy)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04FF5-6E4A-0892-FBBF-8A629CD6C849}"/>
              </a:ext>
            </a:extLst>
          </p:cNvPr>
          <p:cNvSpPr txBox="1"/>
          <p:nvPr/>
        </p:nvSpPr>
        <p:spPr>
          <a:xfrm>
            <a:off x="2688817" y="5826642"/>
            <a:ext cx="6937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Within the “rainy” subset, “windy” has the highest information gain.</a:t>
            </a:r>
            <a:br>
              <a:rPr lang="en-GB" dirty="0"/>
            </a:br>
            <a:r>
              <a:rPr lang="en-GB" dirty="0"/>
              <a:t>It again results in a perfect split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030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F5CF-6EB0-0619-8133-57724020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A03C8F-AE02-128C-A154-2AB9DDE35480}"/>
              </a:ext>
            </a:extLst>
          </p:cNvPr>
          <p:cNvSpPr/>
          <p:nvPr/>
        </p:nvSpPr>
        <p:spPr>
          <a:xfrm>
            <a:off x="5392418" y="30480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E3A5B-1439-9CFA-0668-14C621FCFC2D}"/>
              </a:ext>
            </a:extLst>
          </p:cNvPr>
          <p:cNvSpPr txBox="1"/>
          <p:nvPr/>
        </p:nvSpPr>
        <p:spPr>
          <a:xfrm>
            <a:off x="5585229" y="480352"/>
            <a:ext cx="98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Outlook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D4FDE9-2BBB-490A-F758-D94EEC324108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2197462" y="665018"/>
            <a:ext cx="3194956" cy="704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E86105-669E-B8CE-042E-BC777EA68DFF}"/>
              </a:ext>
            </a:extLst>
          </p:cNvPr>
          <p:cNvSpPr txBox="1"/>
          <p:nvPr/>
        </p:nvSpPr>
        <p:spPr>
          <a:xfrm rot="20856951">
            <a:off x="3465527" y="604045"/>
            <a:ext cx="108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overcast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066136-4CAE-55C0-1408-BEE41146D1CC}"/>
              </a:ext>
            </a:extLst>
          </p:cNvPr>
          <p:cNvGraphicFramePr>
            <a:graphicFrameLocks noGrp="1"/>
          </p:cNvGraphicFramePr>
          <p:nvPr/>
        </p:nvGraphicFramePr>
        <p:xfrm>
          <a:off x="340127" y="1369642"/>
          <a:ext cx="3714670" cy="1684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414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1640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63778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597903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9901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470034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398255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39417">
                <a:tc rowSpan="4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hot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39417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391774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391774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A41672-33A6-4BB5-9048-3C00AAF31BBF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 flipH="1">
            <a:off x="5777355" y="1025236"/>
            <a:ext cx="298554" cy="1683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9BB30C-8EE1-B6C3-05D0-80FE41843A5E}"/>
              </a:ext>
            </a:extLst>
          </p:cNvPr>
          <p:cNvSpPr txBox="1"/>
          <p:nvPr/>
        </p:nvSpPr>
        <p:spPr>
          <a:xfrm>
            <a:off x="5164779" y="1803309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sunny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45A4AE-3806-A096-971A-75993EB74FE5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6759400" y="665018"/>
            <a:ext cx="3341365" cy="102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41087C4-8529-958E-8F95-B23D8B04F6B0}"/>
              </a:ext>
            </a:extLst>
          </p:cNvPr>
          <p:cNvSpPr txBox="1"/>
          <p:nvPr/>
        </p:nvSpPr>
        <p:spPr>
          <a:xfrm rot="961627">
            <a:off x="7956448" y="806071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rainy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B0982-395B-2F26-7E27-4EAED0B0C2A5}"/>
              </a:ext>
            </a:extLst>
          </p:cNvPr>
          <p:cNvSpPr/>
          <p:nvPr/>
        </p:nvSpPr>
        <p:spPr>
          <a:xfrm>
            <a:off x="5093864" y="2708564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A4A625-6CB7-E23A-8C8B-27542057BA23}"/>
              </a:ext>
            </a:extLst>
          </p:cNvPr>
          <p:cNvSpPr txBox="1"/>
          <p:nvPr/>
        </p:nvSpPr>
        <p:spPr>
          <a:xfrm>
            <a:off x="5254651" y="2884116"/>
            <a:ext cx="10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humidity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F48B8E-FA30-8139-1A35-42088E1EFC21}"/>
              </a:ext>
            </a:extLst>
          </p:cNvPr>
          <p:cNvGrpSpPr/>
          <p:nvPr/>
        </p:nvGrpSpPr>
        <p:grpSpPr>
          <a:xfrm>
            <a:off x="2006651" y="3411433"/>
            <a:ext cx="3770704" cy="611001"/>
            <a:chOff x="2006651" y="3411433"/>
            <a:chExt cx="3770704" cy="61100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6BCB449-1F94-4988-91F3-F6D882923046}"/>
                </a:ext>
              </a:extLst>
            </p:cNvPr>
            <p:cNvCxnSpPr>
              <a:cxnSpLocks/>
              <a:stCxn id="10" idx="4"/>
              <a:endCxn id="35" idx="0"/>
            </p:cNvCxnSpPr>
            <p:nvPr/>
          </p:nvCxnSpPr>
          <p:spPr>
            <a:xfrm flipH="1">
              <a:off x="2006651" y="3429000"/>
              <a:ext cx="3770704" cy="5934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84D4590-3F2F-A541-B196-AB2653241336}"/>
                </a:ext>
              </a:extLst>
            </p:cNvPr>
            <p:cNvSpPr txBox="1"/>
            <p:nvPr/>
          </p:nvSpPr>
          <p:spPr>
            <a:xfrm rot="21128194">
              <a:off x="3514524" y="3411433"/>
              <a:ext cx="549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low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03CDDE-F613-D60C-2F2B-A12125B0BE33}"/>
              </a:ext>
            </a:extLst>
          </p:cNvPr>
          <p:cNvCxnSpPr>
            <a:cxnSpLocks/>
            <a:stCxn id="10" idx="4"/>
            <a:endCxn id="34" idx="0"/>
          </p:cNvCxnSpPr>
          <p:nvPr/>
        </p:nvCxnSpPr>
        <p:spPr>
          <a:xfrm flipH="1">
            <a:off x="5271668" y="3429000"/>
            <a:ext cx="505687" cy="16312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C4344B-71C9-6ADA-C8D3-69303C3A0357}"/>
              </a:ext>
            </a:extLst>
          </p:cNvPr>
          <p:cNvSpPr txBox="1"/>
          <p:nvPr/>
        </p:nvSpPr>
        <p:spPr>
          <a:xfrm>
            <a:off x="4889561" y="4047333"/>
            <a:ext cx="64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high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8094E0FB-80F6-465F-FD9C-15D4F2F10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1011"/>
              </p:ext>
            </p:extLst>
          </p:nvPr>
        </p:nvGraphicFramePr>
        <p:xfrm>
          <a:off x="3371902" y="5060277"/>
          <a:ext cx="3799532" cy="118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26241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67918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3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hot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93FD51A-A73C-7F7E-3922-D0EBB0E69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77325"/>
              </p:ext>
            </p:extLst>
          </p:nvPr>
        </p:nvGraphicFramePr>
        <p:xfrm>
          <a:off x="106885" y="4022434"/>
          <a:ext cx="3799532" cy="934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26241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67918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DE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pPr algn="ctr"/>
                      <a:endParaRPr lang="en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l</a:t>
                      </a:r>
                      <a:r>
                        <a:rPr lang="en-DE" sz="1050" dirty="0"/>
                        <a:t>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0682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2B0E59F5-1B7A-2175-45DC-9DF5F8E105A8}"/>
              </a:ext>
            </a:extLst>
          </p:cNvPr>
          <p:cNvSpPr/>
          <p:nvPr/>
        </p:nvSpPr>
        <p:spPr>
          <a:xfrm>
            <a:off x="9417274" y="169400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99A34-98B1-5ABB-4282-00FA6023E96A}"/>
              </a:ext>
            </a:extLst>
          </p:cNvPr>
          <p:cNvSpPr txBox="1"/>
          <p:nvPr/>
        </p:nvSpPr>
        <p:spPr>
          <a:xfrm>
            <a:off x="9706487" y="1842671"/>
            <a:ext cx="83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windy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703C73-4902-E64C-711A-502CCC389A1D}"/>
              </a:ext>
            </a:extLst>
          </p:cNvPr>
          <p:cNvCxnSpPr>
            <a:cxnSpLocks/>
            <a:stCxn id="6" idx="4"/>
            <a:endCxn id="37" idx="0"/>
          </p:cNvCxnSpPr>
          <p:nvPr/>
        </p:nvCxnSpPr>
        <p:spPr>
          <a:xfrm flipH="1">
            <a:off x="8059228" y="2414436"/>
            <a:ext cx="2041537" cy="1152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4609369-CC01-3CA4-4264-DB4A7EA5C334}"/>
              </a:ext>
            </a:extLst>
          </p:cNvPr>
          <p:cNvSpPr txBox="1"/>
          <p:nvPr/>
        </p:nvSpPr>
        <p:spPr>
          <a:xfrm rot="19888853">
            <a:off x="8701024" y="2592414"/>
            <a:ext cx="835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FALSE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C97909-BE75-D6A8-D72F-44E0F5ADAF27}"/>
              </a:ext>
            </a:extLst>
          </p:cNvPr>
          <p:cNvCxnSpPr>
            <a:cxnSpLocks/>
            <a:stCxn id="6" idx="4"/>
            <a:endCxn id="28" idx="0"/>
          </p:cNvCxnSpPr>
          <p:nvPr/>
        </p:nvCxnSpPr>
        <p:spPr>
          <a:xfrm>
            <a:off x="10100765" y="2414436"/>
            <a:ext cx="120993" cy="3005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F5FF49-AABE-404E-0D5E-C6B926E2406C}"/>
              </a:ext>
            </a:extLst>
          </p:cNvPr>
          <p:cNvSpPr txBox="1"/>
          <p:nvPr/>
        </p:nvSpPr>
        <p:spPr>
          <a:xfrm>
            <a:off x="10121651" y="3811474"/>
            <a:ext cx="7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TRUE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2FA1635-1D45-3BFD-D2E3-F93DC52D0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583102"/>
              </p:ext>
            </p:extLst>
          </p:nvPr>
        </p:nvGraphicFramePr>
        <p:xfrm>
          <a:off x="8321992" y="5420247"/>
          <a:ext cx="3799532" cy="934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17862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6297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DE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206162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pPr algn="ctr"/>
                      <a:endParaRPr lang="en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06828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ACC9FEA-8896-DBCD-5997-056CE2F02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33551"/>
              </p:ext>
            </p:extLst>
          </p:nvPr>
        </p:nvGraphicFramePr>
        <p:xfrm>
          <a:off x="6159462" y="3567215"/>
          <a:ext cx="3799532" cy="118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467">
                  <a:extLst>
                    <a:ext uri="{9D8B030D-6E8A-4147-A177-3AD203B41FA5}">
                      <a16:colId xmlns:a16="http://schemas.microsoft.com/office/drawing/2014/main" val="4029881867"/>
                    </a:ext>
                  </a:extLst>
                </a:gridCol>
                <a:gridCol w="339216">
                  <a:extLst>
                    <a:ext uri="{9D8B030D-6E8A-4147-A177-3AD203B41FA5}">
                      <a16:colId xmlns:a16="http://schemas.microsoft.com/office/drawing/2014/main" val="2199729791"/>
                    </a:ext>
                  </a:extLst>
                </a:gridCol>
                <a:gridCol w="781227">
                  <a:extLst>
                    <a:ext uri="{9D8B030D-6E8A-4147-A177-3AD203B41FA5}">
                      <a16:colId xmlns:a16="http://schemas.microsoft.com/office/drawing/2014/main" val="3495060783"/>
                    </a:ext>
                  </a:extLst>
                </a:gridCol>
                <a:gridCol w="617862">
                  <a:extLst>
                    <a:ext uri="{9D8B030D-6E8A-4147-A177-3AD203B41FA5}">
                      <a16:colId xmlns:a16="http://schemas.microsoft.com/office/drawing/2014/main" val="2961540804"/>
                    </a:ext>
                  </a:extLst>
                </a:gridCol>
                <a:gridCol w="976297">
                  <a:extLst>
                    <a:ext uri="{9D8B030D-6E8A-4147-A177-3AD203B41FA5}">
                      <a16:colId xmlns:a16="http://schemas.microsoft.com/office/drawing/2014/main" val="3278756940"/>
                    </a:ext>
                  </a:extLst>
                </a:gridCol>
                <a:gridCol w="500463">
                  <a:extLst>
                    <a:ext uri="{9D8B030D-6E8A-4147-A177-3AD203B41FA5}">
                      <a16:colId xmlns:a16="http://schemas.microsoft.com/office/drawing/2014/main" val="3347361143"/>
                    </a:ext>
                  </a:extLst>
                </a:gridCol>
              </a:tblGrid>
              <a:tr h="431929"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Part.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Windy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040660"/>
                  </a:ext>
                </a:extLst>
              </a:tr>
              <a:tr h="250559">
                <a:tc rowSpan="3"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D20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high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cool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2948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/>
                        <a:t>low</a:t>
                      </a:r>
                      <a:endParaRPr lang="en-DE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80371"/>
                  </a:ext>
                </a:extLst>
              </a:tr>
              <a:tr h="250559">
                <a:tc v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05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02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73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D2DF-525F-FFF1-50A6-29C343B0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97B5C37-26F9-9B04-FF7E-F6CF7FC3A8D2}"/>
              </a:ext>
            </a:extLst>
          </p:cNvPr>
          <p:cNvSpPr/>
          <p:nvPr/>
        </p:nvSpPr>
        <p:spPr>
          <a:xfrm>
            <a:off x="5392418" y="30480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5E122-083D-396F-F667-7F9834EF7DBA}"/>
              </a:ext>
            </a:extLst>
          </p:cNvPr>
          <p:cNvSpPr txBox="1"/>
          <p:nvPr/>
        </p:nvSpPr>
        <p:spPr>
          <a:xfrm>
            <a:off x="5585229" y="480352"/>
            <a:ext cx="98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Outlook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6C7073-6E11-B9B0-05CC-90E502256CE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197462" y="665018"/>
            <a:ext cx="3194956" cy="704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7175FC-3C4A-3C04-B0F9-57542365FDC8}"/>
              </a:ext>
            </a:extLst>
          </p:cNvPr>
          <p:cNvSpPr txBox="1"/>
          <p:nvPr/>
        </p:nvSpPr>
        <p:spPr>
          <a:xfrm rot="20856951">
            <a:off x="3465527" y="604045"/>
            <a:ext cx="108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overcast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409E9A-4D98-F92E-77A4-B0B08FA7AF33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 flipH="1">
            <a:off x="5777355" y="1025236"/>
            <a:ext cx="298554" cy="1683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D2A3FE-11C4-71DE-6C96-6763ABC170B0}"/>
              </a:ext>
            </a:extLst>
          </p:cNvPr>
          <p:cNvSpPr txBox="1"/>
          <p:nvPr/>
        </p:nvSpPr>
        <p:spPr>
          <a:xfrm>
            <a:off x="5164779" y="1803309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sunny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440B1-0E90-946C-C687-6448AE424A6B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6759400" y="665018"/>
            <a:ext cx="3341365" cy="102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CDECD2-09B5-3200-E0FC-773841BF1040}"/>
              </a:ext>
            </a:extLst>
          </p:cNvPr>
          <p:cNvSpPr txBox="1"/>
          <p:nvPr/>
        </p:nvSpPr>
        <p:spPr>
          <a:xfrm rot="961627">
            <a:off x="7956448" y="806071"/>
            <a:ext cx="79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rainy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1FB4C6-E5EE-CB2E-7EB4-0CF2DF3B16E5}"/>
              </a:ext>
            </a:extLst>
          </p:cNvPr>
          <p:cNvSpPr/>
          <p:nvPr/>
        </p:nvSpPr>
        <p:spPr>
          <a:xfrm>
            <a:off x="5093864" y="2708564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34E9F-408B-759A-8BDC-06FA6FDF349C}"/>
              </a:ext>
            </a:extLst>
          </p:cNvPr>
          <p:cNvSpPr txBox="1"/>
          <p:nvPr/>
        </p:nvSpPr>
        <p:spPr>
          <a:xfrm>
            <a:off x="5254651" y="2884116"/>
            <a:ext cx="10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humidity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D5BF17-C85E-E102-9308-D299CD6A3557}"/>
              </a:ext>
            </a:extLst>
          </p:cNvPr>
          <p:cNvGrpSpPr/>
          <p:nvPr/>
        </p:nvGrpSpPr>
        <p:grpSpPr>
          <a:xfrm>
            <a:off x="2006651" y="3411433"/>
            <a:ext cx="3770704" cy="611001"/>
            <a:chOff x="2006651" y="3411433"/>
            <a:chExt cx="3770704" cy="61100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375E68D-FC1B-FEE3-4D03-5BD45CAB01EC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 flipH="1">
              <a:off x="2006651" y="3429000"/>
              <a:ext cx="3770704" cy="5934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7D902A-D0DA-6E4C-4CDB-B630B69C5B6B}"/>
                </a:ext>
              </a:extLst>
            </p:cNvPr>
            <p:cNvSpPr txBox="1"/>
            <p:nvPr/>
          </p:nvSpPr>
          <p:spPr>
            <a:xfrm rot="21128194">
              <a:off x="3514524" y="3411433"/>
              <a:ext cx="549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/>
                <a:t>low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2EB816-9B65-76E7-2767-DCB1D4A6D1AE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5271668" y="3429000"/>
            <a:ext cx="505687" cy="16312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BFC503-5FA1-9FFD-7DD3-B193F9DA8322}"/>
              </a:ext>
            </a:extLst>
          </p:cNvPr>
          <p:cNvSpPr txBox="1"/>
          <p:nvPr/>
        </p:nvSpPr>
        <p:spPr>
          <a:xfrm>
            <a:off x="4889561" y="4047333"/>
            <a:ext cx="64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high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B949BC-93DC-CE2B-F8A3-7043C29B4CFB}"/>
              </a:ext>
            </a:extLst>
          </p:cNvPr>
          <p:cNvSpPr/>
          <p:nvPr/>
        </p:nvSpPr>
        <p:spPr>
          <a:xfrm>
            <a:off x="9417274" y="169400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C49F4-A75C-A1F0-24A6-A677973A6B58}"/>
              </a:ext>
            </a:extLst>
          </p:cNvPr>
          <p:cNvSpPr txBox="1"/>
          <p:nvPr/>
        </p:nvSpPr>
        <p:spPr>
          <a:xfrm>
            <a:off x="9706487" y="1842671"/>
            <a:ext cx="83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windy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AFB709-7F8E-742F-BC6C-BED0009F0980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8059228" y="2414436"/>
            <a:ext cx="2041537" cy="1152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C4154F-0F6A-188E-5425-26942311C3C0}"/>
              </a:ext>
            </a:extLst>
          </p:cNvPr>
          <p:cNvSpPr txBox="1"/>
          <p:nvPr/>
        </p:nvSpPr>
        <p:spPr>
          <a:xfrm rot="19888853">
            <a:off x="8701024" y="2592414"/>
            <a:ext cx="835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FALSE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BD81F3-F94C-AA0B-0EE1-CEA652F7E2D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0100765" y="2414436"/>
            <a:ext cx="120993" cy="3005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D86C7FD-E0A6-6A3F-E539-93028C701E1F}"/>
              </a:ext>
            </a:extLst>
          </p:cNvPr>
          <p:cNvSpPr txBox="1"/>
          <p:nvPr/>
        </p:nvSpPr>
        <p:spPr>
          <a:xfrm>
            <a:off x="10121651" y="3811474"/>
            <a:ext cx="7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0D66C-5028-7424-662B-2B7B81E0EC34}"/>
              </a:ext>
            </a:extLst>
          </p:cNvPr>
          <p:cNvSpPr txBox="1"/>
          <p:nvPr/>
        </p:nvSpPr>
        <p:spPr>
          <a:xfrm>
            <a:off x="1915335" y="1351800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A0560-E098-D435-EABF-0670A2A9FAC4}"/>
              </a:ext>
            </a:extLst>
          </p:cNvPr>
          <p:cNvSpPr txBox="1"/>
          <p:nvPr/>
        </p:nvSpPr>
        <p:spPr>
          <a:xfrm>
            <a:off x="1735881" y="3975703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CC8442-E0E2-1A91-A550-A50F8E856B30}"/>
              </a:ext>
            </a:extLst>
          </p:cNvPr>
          <p:cNvSpPr txBox="1"/>
          <p:nvPr/>
        </p:nvSpPr>
        <p:spPr>
          <a:xfrm>
            <a:off x="5035681" y="50252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79A63A-7013-B555-9A43-0CD199695E22}"/>
              </a:ext>
            </a:extLst>
          </p:cNvPr>
          <p:cNvSpPr txBox="1"/>
          <p:nvPr/>
        </p:nvSpPr>
        <p:spPr>
          <a:xfrm>
            <a:off x="7799091" y="3477254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E7C8C9-0008-49E0-9665-EABD159484D0}"/>
              </a:ext>
            </a:extLst>
          </p:cNvPr>
          <p:cNvSpPr txBox="1"/>
          <p:nvPr/>
        </p:nvSpPr>
        <p:spPr>
          <a:xfrm>
            <a:off x="10002788" y="532938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01024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817</Words>
  <Application>Microsoft Macintosh PowerPoint</Application>
  <PresentationFormat>Widescreen</PresentationFormat>
  <Paragraphs>485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Rouven Lattner</dc:creator>
  <cp:lastModifiedBy>Rouven Lattner</cp:lastModifiedBy>
  <cp:revision>12</cp:revision>
  <dcterms:created xsi:type="dcterms:W3CDTF">2025-10-13T14:11:20Z</dcterms:created>
  <dcterms:modified xsi:type="dcterms:W3CDTF">2025-10-14T10:15:04Z</dcterms:modified>
</cp:coreProperties>
</file>